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3BDBA9D7-FA19-1B1A-0B1C-7C0F3A5519A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Backup" id="{9C7A6FA2-92E6-5C2C-9180-17280C00618F}">
          <p14:sldIdLst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0442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idea: QSafe combines classical network evidence and quantum-channel evidence to make an explainable security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the problem: sensitive data can outlive the cryptography protecting the channel. The phrase harvest now, decrypt later motivates the quantum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computational security with the physical disturbance of quantum states. This is the reason BB84 is relevant to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BB84 steps in one sentence. Emphasize that the classical public channel reveals basis choices, not the key 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table to explain sifting visually, then transition immediately to QBER: after the key candidates are selected, we test whether Alice and Bob disagree on those positions.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actual circuit asset. Do not explain every gate — just map the three zones to Alice, channel noise, and Bob.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25% is the ideal BB84 intercept-resend expectation, not a promise that every finite simulation produces exactly 25%.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graphs carry the evidence. Mention the trend, the error bars, and that finite-sample variation is visible. Avoid claiming an exact proportional law until the regenerated plots confirm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novelty: QBER is evidence, not a binary alarm. QSafe compares experimentally calibrated honest and attack distributions, then estimates P(Eve).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network layer is a second sensor. Show the metrics honestly. Mention the dataset limitation so judges do not mistake NSL-KDD for clinical patient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slide. Walk from the two evidence streams into one policy and then show the matrix. Make clear why neither sensor alone is sufficient.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explain the dashboard first. Click through the scenarios and narrate the evidence → decision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the technical story by stating exactly what was built and what was not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core idea and stop. Do not add another explanation after “Questions?”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only when asked about complete QKD.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posterior equation and how the prior changes the result. The calibrated distributions come from the repeated QBER experiment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four policy cases; each decision traces back to the two evidence streams.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comparison only; the final held-out KDDTest+ numbers appear on slide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88720"/>
            <a:ext cx="4297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QSafe  ·  IBM Qiskit Fall Fest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" y="563574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tx2"/>
                </a:solidFill>
              </a:rPr>
              <a:t>QSafe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93166"/>
            <a:ext cx="347472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Bookman Old Style" panose="02050604050505020204" pitchFamily="18" charset="0"/>
              </a:rPr>
              <a:t>Threat-aware quantum-secure communication for biomedical networks</a:t>
            </a:r>
            <a:endParaRPr lang="en-US" sz="1400" dirty="0">
              <a:latin typeface="Bookman Old Style" panose="0205060405050502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7160" y="2571750"/>
            <a:ext cx="4114800" cy="329184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TRACK 2  ·  QUANTUM CRYPTOGRAPHY &amp; COMMUNICATION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6" name="Cover panel"/>
          <p:cNvSpPr/>
          <p:nvPr/>
        </p:nvSpPr>
        <p:spPr>
          <a:xfrm>
            <a:off x="5120640" y="914400"/>
            <a:ext cx="356616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5303520" y="132588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0" descr="Biomedical endpoi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5544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148072" y="224028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Biomedical endpoint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92240" y="132588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Trust bounda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5544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336792" y="224028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Trust boundary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680960" y="132588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2" descr="Secure clou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15544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525512" y="224028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Secure cloud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172200" y="1737360"/>
            <a:ext cx="27432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7360920" y="1737360"/>
            <a:ext cx="27432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Text 13"/>
          <p:cNvSpPr txBox="1"/>
          <p:nvPr/>
        </p:nvSpPr>
        <p:spPr>
          <a:xfrm>
            <a:off x="5349240" y="3017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Classical threat intelligence + quantum-channel evidence</a:t>
            </a:r>
            <a:endParaRPr lang="en-US" sz="15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3DDEAE-C9E1-57DD-C1FC-21AA80053AF6}"/>
              </a:ext>
            </a:extLst>
          </p:cNvPr>
          <p:cNvSpPr txBox="1"/>
          <p:nvPr/>
        </p:nvSpPr>
        <p:spPr>
          <a:xfrm>
            <a:off x="457200" y="3131318"/>
            <a:ext cx="31652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latin typeface="Bookman Old Style" panose="02050604050505020204" pitchFamily="18" charset="0"/>
              </a:rPr>
              <a:t>TEAM:</a:t>
            </a:r>
          </a:p>
          <a:p>
            <a:endParaRPr lang="en-US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Roopa Gayatri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Vishal Singh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Sabyasaachi Pradhan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E20340B-8642-26A7-D651-453510421621}"/>
              </a:ext>
            </a:extLst>
          </p:cNvPr>
          <p:cNvCxnSpPr/>
          <p:nvPr/>
        </p:nvCxnSpPr>
        <p:spPr>
          <a:xfrm>
            <a:off x="590843" y="1477974"/>
            <a:ext cx="32918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The Threat Outlives the Session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security lifetime of biomedical data can be much longer than the transport session.</a:t>
            </a:r>
            <a:endParaRPr lang="en-US" sz="1400" dirty="0"/>
          </a:p>
        </p:txBody>
      </p:sp>
      <p:sp>
        <p:nvSpPr>
          <p:cNvPr id="5" name="Session panel"/>
          <p:cNvSpPr/>
          <p:nvPr/>
        </p:nvSpPr>
        <p:spPr>
          <a:xfrm>
            <a:off x="457200" y="1371600"/>
            <a:ext cx="82296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1554480" y="1828800"/>
            <a:ext cx="612648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200400" y="1399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Encrypted session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023360" y="1691640"/>
            <a:ext cx="1097280" cy="274320"/>
          </a:xfrm>
          <a:prstGeom prst="roundRect">
            <a:avLst>
              <a:gd name="adj" fmla="val 26667"/>
            </a:avLst>
          </a:prstGeom>
          <a:solidFill>
            <a:schemeClr val="accent5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Eavesdropper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14400" y="150876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0" descr="Hospit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459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Hospital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726680" y="150876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mage 1" descr="Clou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6459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52360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Cloud</a:t>
            </a:r>
            <a:endParaRPr lang="en-US" sz="1100" dirty="0"/>
          </a:p>
        </p:txBody>
      </p:sp>
      <p:sp>
        <p:nvSpPr>
          <p:cNvPr id="15" name="Card Long-lived data"/>
          <p:cNvSpPr/>
          <p:nvPr/>
        </p:nvSpPr>
        <p:spPr>
          <a:xfrm>
            <a:off x="457200" y="265176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40080" y="2743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Long-lived data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Medical records, telemetry, identity, research.</a:t>
            </a:r>
            <a:endParaRPr lang="en-US" sz="1400" dirty="0"/>
          </a:p>
        </p:txBody>
      </p:sp>
      <p:sp>
        <p:nvSpPr>
          <p:cNvPr id="19" name="Card Harvest now"/>
          <p:cNvSpPr/>
          <p:nvPr/>
        </p:nvSpPr>
        <p:spPr>
          <a:xfrm>
            <a:off x="3246120" y="265176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429000" y="2743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3429000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Harvest now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342900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Attackers can store encrypted traffic today.</a:t>
            </a:r>
            <a:endParaRPr lang="en-US" sz="1400" dirty="0"/>
          </a:p>
        </p:txBody>
      </p:sp>
      <p:sp>
        <p:nvSpPr>
          <p:cNvPr id="23" name="Card Decrypt later"/>
          <p:cNvSpPr/>
          <p:nvPr/>
        </p:nvSpPr>
        <p:spPr>
          <a:xfrm>
            <a:off x="6035040" y="265176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217920" y="2743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6217920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Decrypt later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621792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Future quantum systems change the threat model.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Patient data must stay secret for decades.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Security has to survive a changing adversary — not just today’s attacker.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Quantum Changes the Rules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Two very different foundations for security.</a:t>
            </a:r>
            <a:endParaRPr lang="en-US" sz="1400" dirty="0"/>
          </a:p>
        </p:txBody>
      </p:sp>
      <p:sp>
        <p:nvSpPr>
          <p:cNvPr id="5" name="Security from hard math"/>
          <p:cNvSpPr/>
          <p:nvPr/>
        </p:nvSpPr>
        <p:spPr>
          <a:xfrm>
            <a:off x="457200" y="1371600"/>
            <a:ext cx="40233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155448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mage 0" descr="Security from hard mat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1554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Security from hard math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2402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Depends on problems that are difficult for an attacker to compute.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85800" y="3108960"/>
            <a:ext cx="2103120" cy="36576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Future quantum computers</a:t>
            </a:r>
            <a:endParaRPr lang="en-US" sz="1200" dirty="0"/>
          </a:p>
        </p:txBody>
      </p:sp>
      <p:sp>
        <p:nvSpPr>
          <p:cNvPr id="11" name="Security from physics"/>
          <p:cNvSpPr/>
          <p:nvPr/>
        </p:nvSpPr>
        <p:spPr>
          <a:xfrm>
            <a:off x="4663440" y="1371600"/>
            <a:ext cx="40233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12" name="Shape 8"/>
          <p:cNvSpPr/>
          <p:nvPr/>
        </p:nvSpPr>
        <p:spPr>
          <a:xfrm>
            <a:off x="4892040" y="155448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mage 1" descr="Security from physic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916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623560" y="1554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Security from physics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892040" y="22402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Measurement disturbs unknown states. Unknown states cannot be copied perfectly.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892040" y="3108960"/>
            <a:ext cx="21031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Measure → it changes</a:t>
            </a:r>
            <a:endParaRPr lang="en-US" sz="1200" dirty="0"/>
          </a:p>
        </p:txBody>
      </p:sp>
      <p:sp>
        <p:nvSpPr>
          <p:cNvPr id="17" name="The shift"/>
          <p:cNvSpPr/>
          <p:nvPr/>
        </p:nvSpPr>
        <p:spPr>
          <a:xfrm>
            <a:off x="457200" y="388620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85800" y="38862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THE SHIFT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1828800" y="388620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From “hard to solve” → “impossible to observe invisibly.”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BB84 in One Picture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Random choices create the key; the public channel reveals only basis information.</a:t>
            </a:r>
            <a:endParaRPr lang="en-US" sz="1400" dirty="0"/>
          </a:p>
        </p:txBody>
      </p:sp>
      <p:sp>
        <p:nvSpPr>
          <p:cNvPr id="5" name="Four states"/>
          <p:cNvSpPr/>
          <p:nvPr/>
        </p:nvSpPr>
        <p:spPr>
          <a:xfrm>
            <a:off x="457200" y="1371600"/>
            <a:ext cx="26517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444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FOUR STATES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105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Z basis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08760" y="1810512"/>
            <a:ext cx="64008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|0⟩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240280" y="1810512"/>
            <a:ext cx="64008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|1⟩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286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X basis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508760" y="2286000"/>
            <a:ext cx="64008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|+⟩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240280" y="2286000"/>
            <a:ext cx="64008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|−⟩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Random bit + random basis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8328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00100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B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3200400" y="2286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Alice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818120" y="2286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Bob</a:t>
            </a:r>
            <a:endParaRPr lang="en-US" sz="1200" dirty="0"/>
          </a:p>
        </p:txBody>
      </p:sp>
      <p:sp>
        <p:nvSpPr>
          <p:cNvPr id="18" name="Quantum channel"/>
          <p:cNvSpPr/>
          <p:nvPr/>
        </p:nvSpPr>
        <p:spPr>
          <a:xfrm>
            <a:off x="4709160" y="1508760"/>
            <a:ext cx="256032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709160" y="1554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QUANTUM CHANNEL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709160" y="18105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|ψ⟩ → |ψ⟩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4023360" y="1920240"/>
            <a:ext cx="68580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269480" y="1920240"/>
            <a:ext cx="73152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3703320" y="2743200"/>
            <a:ext cx="461772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4754880" y="2606040"/>
            <a:ext cx="2926080" cy="274320"/>
          </a:xfrm>
          <a:prstGeom prst="roundRect">
            <a:avLst>
              <a:gd name="adj" fmla="val 26667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Public channel · bases only, never bits</a:t>
            </a:r>
            <a:endParaRPr lang="en-US" sz="1100" dirty="0"/>
          </a:p>
        </p:txBody>
      </p:sp>
      <p:sp>
        <p:nvSpPr>
          <p:cNvPr id="25" name="Step 1"/>
          <p:cNvSpPr/>
          <p:nvPr/>
        </p:nvSpPr>
        <p:spPr>
          <a:xfrm>
            <a:off x="457200" y="3383280"/>
            <a:ext cx="155448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347472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3813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Random bit</a:t>
            </a:r>
            <a:endParaRPr lang="en-US" sz="1400" dirty="0"/>
          </a:p>
        </p:txBody>
      </p:sp>
      <p:sp>
        <p:nvSpPr>
          <p:cNvPr id="28" name="Step 2"/>
          <p:cNvSpPr/>
          <p:nvPr/>
        </p:nvSpPr>
        <p:spPr>
          <a:xfrm>
            <a:off x="2125980" y="3383280"/>
            <a:ext cx="155448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235708" y="347472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235708" y="3813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Random basis</a:t>
            </a:r>
            <a:endParaRPr lang="en-US" sz="1400" dirty="0"/>
          </a:p>
        </p:txBody>
      </p:sp>
      <p:sp>
        <p:nvSpPr>
          <p:cNvPr id="31" name="Step 3"/>
          <p:cNvSpPr/>
          <p:nvPr/>
        </p:nvSpPr>
        <p:spPr>
          <a:xfrm>
            <a:off x="3794760" y="3383280"/>
            <a:ext cx="155448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904488" y="347472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3904488" y="3813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Transmit</a:t>
            </a:r>
            <a:endParaRPr lang="en-US" sz="1400" dirty="0"/>
          </a:p>
        </p:txBody>
      </p:sp>
      <p:sp>
        <p:nvSpPr>
          <p:cNvPr id="34" name="Step 4"/>
          <p:cNvSpPr/>
          <p:nvPr/>
        </p:nvSpPr>
        <p:spPr>
          <a:xfrm>
            <a:off x="5463540" y="3383280"/>
            <a:ext cx="155448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573268" y="347472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5573268" y="3813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 bases</a:t>
            </a:r>
            <a:endParaRPr lang="en-US" sz="1400" dirty="0"/>
          </a:p>
        </p:txBody>
      </p:sp>
      <p:sp>
        <p:nvSpPr>
          <p:cNvPr id="37" name="Step 5"/>
          <p:cNvSpPr/>
          <p:nvPr/>
        </p:nvSpPr>
        <p:spPr>
          <a:xfrm>
            <a:off x="7132320" y="3383280"/>
            <a:ext cx="155448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242048" y="347472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7242048" y="3813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Keep matches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Matching bases → sifted key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One Bit at a Time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Sifting keeps only positions where Alice and Bob used the same basis.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6400800" cy="230428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Position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A2E27"/>
                          </a:solidFill>
                        </a:rPr>
                        <a:t>Alice bit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A2E27"/>
                          </a:solidFill>
                        </a:rPr>
                        <a:t>Alice basis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Z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X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X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Z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X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Z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X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Z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A2E27"/>
                          </a:solidFill>
                        </a:rPr>
                        <a:t>Bob basis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Z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Z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X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X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X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Z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Z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Z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A2E27"/>
                          </a:solidFill>
                        </a:rPr>
                        <a:t>Match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B8C5A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04A3A"/>
                          </a:solidFill>
                        </a:rPr>
                        <a:t>✕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B8C5A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04A3A"/>
                          </a:solidFill>
                        </a:rPr>
                        <a:t>✕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B8C5A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B8C5A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04A3A"/>
                          </a:solidFill>
                        </a:rPr>
                        <a:t>✕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B8C5A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A2E27"/>
                          </a:solidFill>
                        </a:rPr>
                        <a:t>Sifted key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A2E27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89A8D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A2E27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89A8D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A2E27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A2E27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89A8D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A2E27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Sifting stat"/>
          <p:cNvSpPr/>
          <p:nvPr/>
        </p:nvSpPr>
        <p:spPr>
          <a:xfrm>
            <a:off x="7132320" y="1371600"/>
            <a:ext cx="1554480" cy="2304288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223760" y="1600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≈ 50%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7223760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survive sifting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7269480" y="26060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Matching bases become the sifted key.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3931920"/>
            <a:ext cx="137160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Sift first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874520" y="4114800"/>
            <a:ext cx="41148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Text 8"/>
          <p:cNvSpPr/>
          <p:nvPr/>
        </p:nvSpPr>
        <p:spPr>
          <a:xfrm>
            <a:off x="2331720" y="3931920"/>
            <a:ext cx="137160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QBER next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977640" y="39319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Demonstration: 8 transmissions → 5 matching positions in this example.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The Qiskit Circuit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Built from the same BB84 implementation used by QSafe.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583680" y="384048"/>
            <a:ext cx="2103120" cy="310896"/>
          </a:xfrm>
          <a:prstGeom prst="roundRect">
            <a:avLst>
              <a:gd name="adj" fmla="val 23529"/>
            </a:avLst>
          </a:prstGeom>
          <a:solidFill>
            <a:schemeClr val="accent6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Qiskit → Aer → QBER</a:t>
            </a:r>
            <a:endParaRPr lang="en-US" sz="1100" dirty="0"/>
          </a:p>
        </p:txBody>
      </p:sp>
      <p:sp>
        <p:nvSpPr>
          <p:cNvPr id="6" name="Image placeholder"/>
          <p:cNvSpPr/>
          <p:nvPr/>
        </p:nvSpPr>
        <p:spPr>
          <a:xfrm>
            <a:off x="457200" y="1371600"/>
            <a:ext cx="822960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dash"/>
          </a:ln>
        </p:spPr>
      </p:sp>
      <p:pic>
        <p:nvPicPr>
          <p:cNvPr id="7" name="Image 0" descr="Image placehold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805940"/>
            <a:ext cx="402336" cy="40233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31821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BB84 circuit</a:t>
            </a:r>
            <a:endParaRPr lang="en-US" sz="1600" dirty="0"/>
          </a:p>
        </p:txBody>
      </p:sp>
      <p:sp>
        <p:nvSpPr>
          <p:cNvPr id="11" name="Zone Alice"/>
          <p:cNvSpPr/>
          <p:nvPr/>
        </p:nvSpPr>
        <p:spPr>
          <a:xfrm>
            <a:off x="457200" y="3794760"/>
            <a:ext cx="26517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40080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tx2"/>
                </a:solidFill>
              </a:rPr>
              <a:t>ALICE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4069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X / H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43251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prepare bit + basis</a:t>
            </a:r>
            <a:endParaRPr lang="en-US" sz="1200" dirty="0"/>
          </a:p>
        </p:txBody>
      </p:sp>
      <p:sp>
        <p:nvSpPr>
          <p:cNvPr id="15" name="Zone Channel"/>
          <p:cNvSpPr/>
          <p:nvPr/>
        </p:nvSpPr>
        <p:spPr>
          <a:xfrm>
            <a:off x="3246120" y="3794760"/>
            <a:ext cx="26517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3429000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tx2"/>
                </a:solidFill>
              </a:rPr>
              <a:t>CHANNEL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3429000" y="4069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 gate + depolarizing noise</a:t>
            </a:r>
            <a:endParaRPr lang="en-US" sz="1400" dirty="0"/>
          </a:p>
        </p:txBody>
      </p:sp>
      <p:sp>
        <p:nvSpPr>
          <p:cNvPr id="18" name="Zone Bob"/>
          <p:cNvSpPr/>
          <p:nvPr/>
        </p:nvSpPr>
        <p:spPr>
          <a:xfrm>
            <a:off x="6035040" y="3794760"/>
            <a:ext cx="26517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217920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tx2"/>
                </a:solidFill>
              </a:rPr>
              <a:t>BOB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6217920" y="4069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H if X basis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6217920" y="43251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then measure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9FE77E72-8B78-8A9A-234D-35CE4DA9BD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21169" y="1417320"/>
            <a:ext cx="4417256" cy="18368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Eve Leaves Fingerprints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Intercept-resend turns a hidden attacker into measurable disturbance.</a:t>
            </a:r>
            <a:endParaRPr lang="en-US" sz="1400" dirty="0"/>
          </a:p>
        </p:txBody>
      </p:sp>
      <p:sp>
        <p:nvSpPr>
          <p:cNvPr id="5" name="Image placeholder"/>
          <p:cNvSpPr/>
          <p:nvPr/>
        </p:nvSpPr>
        <p:spPr>
          <a:xfrm>
            <a:off x="457200" y="1371600"/>
            <a:ext cx="502920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dash"/>
          </a:ln>
        </p:spPr>
      </p:sp>
      <p:pic>
        <p:nvPicPr>
          <p:cNvPr id="6" name="Image 0" descr="Image placehold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632" y="2286000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36804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eavesdropper circuit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76072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263640" y="1371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Eve guesses the basis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760720" y="21488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263640" y="20574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Wrong basis → random result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760720" y="28346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263640" y="2743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Bob sees an error</a:t>
            </a:r>
            <a:endParaRPr lang="en-US" sz="1400" dirty="0"/>
          </a:p>
        </p:txBody>
      </p:sp>
      <p:sp>
        <p:nvSpPr>
          <p:cNvPr id="16" name="Eve stat"/>
          <p:cNvSpPr/>
          <p:nvPr/>
        </p:nvSpPr>
        <p:spPr>
          <a:xfrm>
            <a:off x="5760720" y="3520440"/>
            <a:ext cx="29260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897880" y="361188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25%</a:t>
            </a:r>
            <a:endParaRPr lang="en-US" sz="3800" dirty="0"/>
          </a:p>
        </p:txBody>
      </p:sp>
      <p:sp>
        <p:nvSpPr>
          <p:cNvPr id="18" name="Text 14"/>
          <p:cNvSpPr txBox="1"/>
          <p:nvPr/>
        </p:nvSpPr>
        <p:spPr>
          <a:xfrm>
            <a:off x="7132320" y="36118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ideal intercept–resend error at 100% interception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EFED7956-A879-486B-E553-C2826F0E3A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49" y="1951892"/>
            <a:ext cx="4896901" cy="1153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QBER Reveals the Disturbance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QBER rises with both channel noise and eavesdropping; error bars show trial variation.</a:t>
            </a:r>
            <a:endParaRPr lang="en-US" sz="1400" dirty="0"/>
          </a:p>
        </p:txBody>
      </p:sp>
      <p:sp>
        <p:nvSpPr>
          <p:cNvPr id="5" name="Image placeholder"/>
          <p:cNvSpPr/>
          <p:nvPr/>
        </p:nvSpPr>
        <p:spPr>
          <a:xfrm>
            <a:off x="457200" y="1371600"/>
            <a:ext cx="40233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dash"/>
          </a:ln>
        </p:spPr>
      </p:sp>
      <p:pic>
        <p:nvPicPr>
          <p:cNvPr id="6" name="Image 0" descr="Image placehold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12" y="1874520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34061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QBER vs noise plot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docs/qber_vs_noise.png</a:t>
            </a:r>
            <a:endParaRPr lang="en-US" sz="1200" dirty="0"/>
          </a:p>
        </p:txBody>
      </p:sp>
      <p:sp>
        <p:nvSpPr>
          <p:cNvPr id="9" name="Image placeholder"/>
          <p:cNvSpPr/>
          <p:nvPr/>
        </p:nvSpPr>
        <p:spPr>
          <a:xfrm>
            <a:off x="4663440" y="1371600"/>
            <a:ext cx="40233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dash"/>
          </a:ln>
        </p:spPr>
      </p:sp>
      <p:pic>
        <p:nvPicPr>
          <p:cNvPr id="10" name="Image 1" descr="Image placehold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874520"/>
            <a:ext cx="402336" cy="40233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948425" y="34061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QBER vs Eve plot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484632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docs/qber_vs_eve.png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57200" y="3886200"/>
            <a:ext cx="4023360" cy="36576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Noise ↑  →  QBER ↑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663440" y="3886200"/>
            <a:ext cx="402336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Eve ↑  →  QBER ↑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Plot mean ± 1σ from repeated trials. Experiment design: 10 trials × 1,000 bits per configuration.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4CD91FF-28E3-9169-3042-3FDEAE840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425" y="1442461"/>
            <a:ext cx="3289623" cy="20414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E790B3D-0A9E-0BA2-7AAE-F8A41C4B24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06" y="1382231"/>
            <a:ext cx="3386682" cy="21016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QBER Is Evidence, Not Alarm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Noise and eavesdropping can both raise QBER — Bayes compares the explanations.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76775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Bayes figure</a:t>
            </a:r>
            <a:endParaRPr lang="en-US" sz="1600" dirty="0"/>
          </a:p>
        </p:txBody>
      </p:sp>
      <p:sp>
        <p:nvSpPr>
          <p:cNvPr id="9" name="Bayes panel"/>
          <p:cNvSpPr/>
          <p:nvPr/>
        </p:nvSpPr>
        <p:spPr>
          <a:xfrm>
            <a:off x="5577840" y="1371600"/>
            <a:ext cx="3108960" cy="320040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5760720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P(Eve | QBER)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576072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Which story fits better?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760720" y="2514600"/>
            <a:ext cx="27432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760720" y="2560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Observed QBER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0" y="25603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6.4%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5760720" y="3154680"/>
            <a:ext cx="27432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760720" y="3200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Estimated noise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315200" y="32004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5.0%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5760720" y="3794760"/>
            <a:ext cx="27432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760720" y="3886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Not a fixed rule: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76072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“QBER &gt; X ⇒ reject”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2AB02B8-7F18-1228-9581-24E7DEA77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619" y="1305657"/>
            <a:ext cx="4840312" cy="28407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 Second Security Sensor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Classical ML reads the network; the quantum layer reads the channel.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NSL-KDD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322576" y="1600200"/>
            <a:ext cx="22860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7" name="Text 4"/>
          <p:cNvSpPr/>
          <p:nvPr/>
        </p:nvSpPr>
        <p:spPr>
          <a:xfrm>
            <a:off x="2590495" y="1371600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Preprocess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55871" y="1600200"/>
            <a:ext cx="22860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4723790" y="1371600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LightGBM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589166" y="1600200"/>
            <a:ext cx="22860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6857086" y="1371600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Threat probability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011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tx2"/>
                </a:solidFill>
              </a:rPr>
              <a:t>HELD-OUT KDDTEST+</a:t>
            </a:r>
            <a:endParaRPr lang="en-US" sz="1000" dirty="0"/>
          </a:p>
        </p:txBody>
      </p:sp>
      <p:sp>
        <p:nvSpPr>
          <p:cNvPr id="13" name="Metric Accuracy"/>
          <p:cNvSpPr/>
          <p:nvPr/>
        </p:nvSpPr>
        <p:spPr>
          <a:xfrm>
            <a:off x="457200" y="2286000"/>
            <a:ext cx="1261872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239572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78.6%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29260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ACCURACY</a:t>
            </a:r>
            <a:endParaRPr lang="en-US" sz="1100" dirty="0"/>
          </a:p>
        </p:txBody>
      </p:sp>
      <p:sp>
        <p:nvSpPr>
          <p:cNvPr id="16" name="Metric Precision"/>
          <p:cNvSpPr/>
          <p:nvPr/>
        </p:nvSpPr>
        <p:spPr>
          <a:xfrm>
            <a:off x="1850746" y="2286000"/>
            <a:ext cx="1261872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850746" y="239572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96.9%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850746" y="29260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PRECISION</a:t>
            </a:r>
            <a:endParaRPr lang="en-US" sz="1100" dirty="0"/>
          </a:p>
        </p:txBody>
      </p:sp>
      <p:sp>
        <p:nvSpPr>
          <p:cNvPr id="19" name="Metric Recall"/>
          <p:cNvSpPr/>
          <p:nvPr/>
        </p:nvSpPr>
        <p:spPr>
          <a:xfrm>
            <a:off x="3244291" y="2286000"/>
            <a:ext cx="1261872" cy="1051560"/>
          </a:xfrm>
          <a:prstGeom prst="roundRect">
            <a:avLst>
              <a:gd name="adj" fmla="val 6957"/>
            </a:avLst>
          </a:prstGeom>
          <a:solidFill>
            <a:schemeClr val="accent6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244291" y="239572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64.6%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3244291" y="29260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RECALL</a:t>
            </a:r>
            <a:endParaRPr lang="en-US" sz="1100" dirty="0"/>
          </a:p>
        </p:txBody>
      </p:sp>
      <p:sp>
        <p:nvSpPr>
          <p:cNvPr id="22" name="Metric F1"/>
          <p:cNvSpPr/>
          <p:nvPr/>
        </p:nvSpPr>
        <p:spPr>
          <a:xfrm>
            <a:off x="4637837" y="2286000"/>
            <a:ext cx="1261872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637837" y="239572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77.5%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4637837" y="29260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F1</a:t>
            </a:r>
            <a:endParaRPr lang="en-US" sz="1100" dirty="0"/>
          </a:p>
        </p:txBody>
      </p:sp>
      <p:sp>
        <p:nvSpPr>
          <p:cNvPr id="25" name="Metric ROC-AUC"/>
          <p:cNvSpPr/>
          <p:nvPr/>
        </p:nvSpPr>
        <p:spPr>
          <a:xfrm>
            <a:off x="6031382" y="2286000"/>
            <a:ext cx="1261872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031382" y="239572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96.0%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6031382" y="29260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ROC-AUC</a:t>
            </a:r>
            <a:endParaRPr lang="en-US" sz="1100" dirty="0"/>
          </a:p>
        </p:txBody>
      </p:sp>
      <p:sp>
        <p:nvSpPr>
          <p:cNvPr id="28" name="Metric PR-AUC"/>
          <p:cNvSpPr/>
          <p:nvPr/>
        </p:nvSpPr>
        <p:spPr>
          <a:xfrm>
            <a:off x="7424928" y="2286000"/>
            <a:ext cx="1261872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424928" y="239572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96.5%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7424928" y="29260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PR-AUC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High precision limits false attack alerts; recall remains visible as the trade-off.</a:t>
            </a:r>
            <a:endParaRPr lang="en-US" sz="1400" dirty="0"/>
          </a:p>
        </p:txBody>
      </p:sp>
      <p:sp>
        <p:nvSpPr>
          <p:cNvPr id="32" name="Dataset note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0080" y="4114800"/>
            <a:ext cx="1005840" cy="27432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IMPORTANT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828800" y="39319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NSL-KDD is a network-intrusion dataset; biomedical networks are our application context.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Two Signals, One Decision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core QSafe workflow fuses network threat evidence with quantum-channel evidence.</a:t>
            </a:r>
            <a:endParaRPr lang="en-US" sz="1400" dirty="0"/>
          </a:p>
        </p:txBody>
      </p:sp>
      <p:sp>
        <p:nvSpPr>
          <p:cNvPr id="5" name="Network data"/>
          <p:cNvSpPr/>
          <p:nvPr/>
        </p:nvSpPr>
        <p:spPr>
          <a:xfrm>
            <a:off x="457200" y="1371600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426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Network data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73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traffic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56232" y="1645920"/>
            <a:ext cx="17373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ML"/>
          <p:cNvSpPr/>
          <p:nvPr/>
        </p:nvSpPr>
        <p:spPr>
          <a:xfrm>
            <a:off x="2057400" y="1371600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057400" y="1426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ML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057400" y="1673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LightGBM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56432" y="1645920"/>
            <a:ext cx="17373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Threat P"/>
          <p:cNvSpPr/>
          <p:nvPr/>
        </p:nvSpPr>
        <p:spPr>
          <a:xfrm>
            <a:off x="3657600" y="1371600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57600" y="1426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Threat P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657600" y="1673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classical evidence</a:t>
            </a:r>
            <a:endParaRPr lang="en-US" sz="1000" dirty="0"/>
          </a:p>
        </p:txBody>
      </p:sp>
      <p:sp>
        <p:nvSpPr>
          <p:cNvPr id="16" name="BB84"/>
          <p:cNvSpPr/>
          <p:nvPr/>
        </p:nvSpPr>
        <p:spPr>
          <a:xfrm>
            <a:off x="457200" y="2011680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20665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BB84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23134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qubits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856232" y="2286000"/>
            <a:ext cx="17373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QBER + Bayes"/>
          <p:cNvSpPr/>
          <p:nvPr/>
        </p:nvSpPr>
        <p:spPr>
          <a:xfrm>
            <a:off x="2057400" y="2011680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057400" y="2011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QBER + Bayes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456432" y="2286000"/>
            <a:ext cx="17373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3" name="P(Eve)"/>
          <p:cNvSpPr/>
          <p:nvPr/>
        </p:nvSpPr>
        <p:spPr>
          <a:xfrm>
            <a:off x="3657600" y="2011680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657600" y="20665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P(Eve)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3657600" y="23134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quantum evidence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029200" y="1645920"/>
            <a:ext cx="41148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5029200" y="2286000"/>
            <a:ext cx="41148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8" name="Policy"/>
          <p:cNvSpPr/>
          <p:nvPr/>
        </p:nvSpPr>
        <p:spPr>
          <a:xfrm>
            <a:off x="5486400" y="1371600"/>
            <a:ext cx="320040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486400" y="1554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Policy → API → Dashboard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final decision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2743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tx2"/>
                </a:solidFill>
              </a:rPr>
              <a:t>DECISION MATRIX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103120" y="3017520"/>
            <a:ext cx="1920240" cy="36576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Quantum clean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069080" y="3017520"/>
            <a:ext cx="1920240" cy="36576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Quantum Eve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57200" y="3429000"/>
            <a:ext cx="16002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Network normal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2103120" y="3429000"/>
            <a:ext cx="192024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ACCEPT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4069080" y="3429000"/>
            <a:ext cx="192024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REJECT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457200" y="3977640"/>
            <a:ext cx="16002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Network attack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2103120" y="3977640"/>
            <a:ext cx="192024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MONITOR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4069080" y="3977640"/>
            <a:ext cx="192024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REJECT</a:t>
            </a:r>
            <a:endParaRPr lang="en-US" sz="1400" dirty="0"/>
          </a:p>
        </p:txBody>
      </p:sp>
      <p:sp>
        <p:nvSpPr>
          <p:cNvPr id="40" name="Takeaway"/>
          <p:cNvSpPr/>
          <p:nvPr/>
        </p:nvSpPr>
        <p:spPr>
          <a:xfrm>
            <a:off x="6263640" y="3017520"/>
            <a:ext cx="24231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446520" y="301752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Neither layer alone is enough.</a:t>
            </a:r>
            <a:endParaRPr lang="en-US" sz="18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See It Live</a:t>
            </a:r>
            <a:endParaRPr lang="en-US" sz="3200" dirty="0"/>
          </a:p>
        </p:txBody>
      </p:sp>
      <p:pic>
        <p:nvPicPr>
          <p:cNvPr id="6" name="Image 0" descr="Image placehold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1920240"/>
            <a:ext cx="402336" cy="402336"/>
          </a:xfrm>
          <a:prstGeom prst="rect">
            <a:avLst/>
          </a:prstGeom>
        </p:spPr>
      </p:pic>
      <p:sp>
        <p:nvSpPr>
          <p:cNvPr id="9" name="State Calm"/>
          <p:cNvSpPr/>
          <p:nvPr/>
        </p:nvSpPr>
        <p:spPr>
          <a:xfrm>
            <a:off x="7269480" y="1371600"/>
            <a:ext cx="1417320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269480" y="1463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CALM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269480" y="1783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Accept</a:t>
            </a:r>
            <a:endParaRPr lang="en-US" sz="1200" dirty="0"/>
          </a:p>
        </p:txBody>
      </p:sp>
      <p:sp>
        <p:nvSpPr>
          <p:cNvPr id="12" name="State Alert"/>
          <p:cNvSpPr/>
          <p:nvPr/>
        </p:nvSpPr>
        <p:spPr>
          <a:xfrm>
            <a:off x="726948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chemeClr val="accent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69480" y="23317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ALERT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269480" y="2651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Monitor</a:t>
            </a:r>
            <a:endParaRPr lang="en-US" sz="1200" dirty="0"/>
          </a:p>
        </p:txBody>
      </p:sp>
      <p:sp>
        <p:nvSpPr>
          <p:cNvPr id="15" name="State Wrath"/>
          <p:cNvSpPr/>
          <p:nvPr/>
        </p:nvSpPr>
        <p:spPr>
          <a:xfrm>
            <a:off x="7269480" y="3108960"/>
            <a:ext cx="1417320" cy="777240"/>
          </a:xfrm>
          <a:prstGeom prst="roundRect">
            <a:avLst>
              <a:gd name="adj" fmla="val 9412"/>
            </a:avLst>
          </a:prstGeom>
          <a:solidFill>
            <a:schemeClr val="accent5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269480" y="32004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WRATH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269480" y="3520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Reject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3931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tx2"/>
                </a:solidFill>
              </a:rPr>
              <a:t>RECOMMENDED LIVE SEQUENCE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57200" y="4206240"/>
            <a:ext cx="155448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  Normal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125980" y="4206240"/>
            <a:ext cx="155448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  Channel noise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794760" y="4206240"/>
            <a:ext cx="155448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3  Network attack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463540" y="4206240"/>
            <a:ext cx="155448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4  Eavesdropper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132320" y="4206240"/>
            <a:ext cx="155448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5  Combined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F6B441E-3158-AF3F-B115-C62A3AEC1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027" y="858485"/>
            <a:ext cx="5915465" cy="30836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We Delivered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 simulation-driven research proof of concept, built end to end.</a:t>
            </a:r>
            <a:endParaRPr lang="en-US" sz="1400" dirty="0"/>
          </a:p>
        </p:txBody>
      </p:sp>
      <p:sp>
        <p:nvSpPr>
          <p:cNvPr id="5" name="Qiskit BB84"/>
          <p:cNvSpPr/>
          <p:nvPr/>
        </p:nvSpPr>
        <p:spPr>
          <a:xfrm>
            <a:off x="457200" y="1371600"/>
            <a:ext cx="24688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594360" y="1499616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mage 0" descr="D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581912"/>
            <a:ext cx="146304" cy="14630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3716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Qiskit BB84</a:t>
            </a:r>
            <a:endParaRPr lang="en-US" sz="1400" dirty="0"/>
          </a:p>
        </p:txBody>
      </p:sp>
      <p:sp>
        <p:nvSpPr>
          <p:cNvPr id="9" name="Bayesian evidence"/>
          <p:cNvSpPr/>
          <p:nvPr/>
        </p:nvSpPr>
        <p:spPr>
          <a:xfrm>
            <a:off x="3063240" y="1371600"/>
            <a:ext cx="24688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0" name="Shape 6"/>
          <p:cNvSpPr/>
          <p:nvPr/>
        </p:nvSpPr>
        <p:spPr>
          <a:xfrm>
            <a:off x="3200400" y="1499616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1" descr="D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696" y="1581912"/>
            <a:ext cx="146304" cy="14630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657600" y="13716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Bayesian evidence</a:t>
            </a:r>
            <a:endParaRPr lang="en-US" sz="1400" dirty="0"/>
          </a:p>
        </p:txBody>
      </p:sp>
      <p:sp>
        <p:nvSpPr>
          <p:cNvPr id="13" name="Classical baseline"/>
          <p:cNvSpPr/>
          <p:nvPr/>
        </p:nvSpPr>
        <p:spPr>
          <a:xfrm>
            <a:off x="457200" y="2057400"/>
            <a:ext cx="24688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4" name="Shape 9"/>
          <p:cNvSpPr/>
          <p:nvPr/>
        </p:nvSpPr>
        <p:spPr>
          <a:xfrm>
            <a:off x="594360" y="2185416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2" descr="D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267712"/>
            <a:ext cx="146304" cy="14630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51560" y="20574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Classical baseline</a:t>
            </a:r>
            <a:endParaRPr lang="en-US" sz="1400" dirty="0"/>
          </a:p>
        </p:txBody>
      </p:sp>
      <p:sp>
        <p:nvSpPr>
          <p:cNvPr id="17" name="Working dashboard"/>
          <p:cNvSpPr/>
          <p:nvPr/>
        </p:nvSpPr>
        <p:spPr>
          <a:xfrm>
            <a:off x="3063240" y="2057400"/>
            <a:ext cx="24688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8" name="Shape 12"/>
          <p:cNvSpPr/>
          <p:nvPr/>
        </p:nvSpPr>
        <p:spPr>
          <a:xfrm>
            <a:off x="3200400" y="2185416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Image 3" descr="D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696" y="2267712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657600" y="20574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Working dashboard</a:t>
            </a:r>
            <a:endParaRPr lang="en-US" sz="1400" dirty="0"/>
          </a:p>
        </p:txBody>
      </p:sp>
      <p:sp>
        <p:nvSpPr>
          <p:cNvPr id="21" name="Quantitative experiments"/>
          <p:cNvSpPr/>
          <p:nvPr/>
        </p:nvSpPr>
        <p:spPr>
          <a:xfrm>
            <a:off x="457200" y="2743200"/>
            <a:ext cx="24688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22" name="Shape 15"/>
          <p:cNvSpPr/>
          <p:nvPr/>
        </p:nvSpPr>
        <p:spPr>
          <a:xfrm>
            <a:off x="594360" y="2871216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Image 4" descr="D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953512"/>
            <a:ext cx="146304" cy="14630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051560" y="27432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Quantitative experiments</a:t>
            </a:r>
            <a:endParaRPr lang="en-US" sz="1400" dirty="0"/>
          </a:p>
        </p:txBody>
      </p:sp>
      <p:sp>
        <p:nvSpPr>
          <p:cNvPr id="25" name="Live demo"/>
          <p:cNvSpPr/>
          <p:nvPr/>
        </p:nvSpPr>
        <p:spPr>
          <a:xfrm>
            <a:off x="3063240" y="2743200"/>
            <a:ext cx="24688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26" name="Shape 18"/>
          <p:cNvSpPr/>
          <p:nvPr/>
        </p:nvSpPr>
        <p:spPr>
          <a:xfrm>
            <a:off x="3200400" y="2871216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7" name="Image 5" descr="D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696" y="2953512"/>
            <a:ext cx="146304" cy="14630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3657600" y="27432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Live demo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457200" y="3566160"/>
            <a:ext cx="1828800" cy="36576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Simulation only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2423160" y="3566160"/>
            <a:ext cx="3200400" cy="36576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No quantum advantage claimed</a:t>
            </a:r>
            <a:endParaRPr lang="en-US" sz="1200" dirty="0"/>
          </a:p>
        </p:txBody>
      </p:sp>
      <p:sp>
        <p:nvSpPr>
          <p:cNvPr id="31" name="Next panel"/>
          <p:cNvSpPr/>
          <p:nvPr/>
        </p:nvSpPr>
        <p:spPr>
          <a:xfrm>
            <a:off x="5943600" y="1371600"/>
            <a:ext cx="2743200" cy="25603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612648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NEXT</a:t>
            </a:r>
            <a:endParaRPr lang="en-US" sz="1100" dirty="0"/>
          </a:p>
        </p:txBody>
      </p:sp>
      <p:sp>
        <p:nvSpPr>
          <p:cNvPr id="33" name="Text 24"/>
          <p:cNvSpPr txBox="1"/>
          <p:nvPr/>
        </p:nvSpPr>
        <p:spPr>
          <a:xfrm>
            <a:off x="6126480" y="178308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Real hardware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Healthcare traffic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Error correction + privacy amplification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More attack types</a:t>
            </a:r>
            <a:endParaRPr lang="en-US" sz="1400" dirty="0"/>
          </a:p>
        </p:txBody>
      </p:sp>
      <p:sp>
        <p:nvSpPr>
          <p:cNvPr id="34" name="Disclaimer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35" name="Text 26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QSafe is a proof-of-concept research platform, not a deployed clinical security system.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887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tx2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QSafe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Threat-aware quantum-secure communication for biomedical networks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DON’T TRUST ONE SIGNAL. FUSE THE EVIDENCE.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[Team names]</a:t>
            </a:r>
            <a:endParaRPr lang="en-US" sz="1200" dirty="0"/>
          </a:p>
        </p:txBody>
      </p:sp>
      <p:sp>
        <p:nvSpPr>
          <p:cNvPr id="8" name="QR placeholder"/>
          <p:cNvSpPr/>
          <p:nvPr/>
        </p:nvSpPr>
        <p:spPr>
          <a:xfrm>
            <a:off x="5577840" y="1097280"/>
            <a:ext cx="274320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dash"/>
          </a:ln>
        </p:spPr>
      </p:sp>
      <p:pic>
        <p:nvPicPr>
          <p:cNvPr id="9" name="Image 0" descr="QR placehold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9202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66928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Insert GitHub QR code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Repository link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BB84 Stops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772400" y="384048"/>
            <a:ext cx="914400" cy="292608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BACKUP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Use only if a judge asks about the scope of full QKD.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4173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tx2"/>
                </a:solidFill>
              </a:rPr>
              <a:t>IMPLEMENTED IN QSAFE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1417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tx2"/>
                </a:solidFill>
              </a:rPr>
              <a:t>OUT OF SCOPE</a:t>
            </a:r>
            <a:endParaRPr lang="en-US" sz="1000" dirty="0"/>
          </a:p>
        </p:txBody>
      </p:sp>
      <p:sp>
        <p:nvSpPr>
          <p:cNvPr id="8" name="Quantum transmission"/>
          <p:cNvSpPr/>
          <p:nvPr/>
        </p:nvSpPr>
        <p:spPr>
          <a:xfrm>
            <a:off x="457200" y="1737360"/>
            <a:ext cx="1463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18288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Quantum transmission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Alice → Bob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947672" y="2423160"/>
            <a:ext cx="17373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Sifting"/>
          <p:cNvSpPr/>
          <p:nvPr/>
        </p:nvSpPr>
        <p:spPr>
          <a:xfrm>
            <a:off x="2148840" y="1737360"/>
            <a:ext cx="1463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240280" y="18288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Sifting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24028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keep matching bases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39312" y="2423160"/>
            <a:ext cx="17373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QBER test"/>
          <p:cNvSpPr/>
          <p:nvPr/>
        </p:nvSpPr>
        <p:spPr>
          <a:xfrm>
            <a:off x="3840480" y="1737360"/>
            <a:ext cx="146304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931920" y="18288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QBER test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93192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compare sifted bits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330952" y="2423160"/>
            <a:ext cx="17373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Error correction"/>
          <p:cNvSpPr/>
          <p:nvPr/>
        </p:nvSpPr>
        <p:spPr>
          <a:xfrm>
            <a:off x="5532120" y="1737360"/>
            <a:ext cx="146304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5623560" y="18288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Error correction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62356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not implemented here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022592" y="2423160"/>
            <a:ext cx="17373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4" name="Privacy amplification"/>
          <p:cNvSpPr/>
          <p:nvPr/>
        </p:nvSpPr>
        <p:spPr>
          <a:xfrm>
            <a:off x="7223760" y="1737360"/>
            <a:ext cx="146304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7315200" y="18288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Privacy amplification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not implemented here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023360" y="3200400"/>
            <a:ext cx="1097280" cy="274320"/>
          </a:xfrm>
          <a:prstGeom prst="roundRect">
            <a:avLst>
              <a:gd name="adj" fmla="val 26667"/>
            </a:avLst>
          </a:prstGeom>
          <a:solidFill>
            <a:schemeClr val="accent4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WE ARE HERE</a:t>
            </a:r>
            <a:endParaRPr lang="en-US" sz="1000" dirty="0"/>
          </a:p>
        </p:txBody>
      </p:sp>
      <p:sp>
        <p:nvSpPr>
          <p:cNvPr id="28" name="Scope note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85800" y="3749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QSafe focuses on detection and adaptive decision-making after QBER measurement.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Bayesian Evidence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772400" y="384048"/>
            <a:ext cx="914400" cy="292608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BACKUP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posterior equation and prior sensitivity.</a:t>
            </a:r>
            <a:endParaRPr lang="en-US" sz="1400" dirty="0"/>
          </a:p>
        </p:txBody>
      </p:sp>
      <p:sp>
        <p:nvSpPr>
          <p:cNvPr id="6" name="Equation card"/>
          <p:cNvSpPr/>
          <p:nvPr/>
        </p:nvSpPr>
        <p:spPr>
          <a:xfrm>
            <a:off x="457200" y="1371600"/>
            <a:ext cx="548640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P(E | Q) =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1920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P(Q | E) · P(E)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103120" y="2423160"/>
            <a:ext cx="356616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03120" y="2514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P(Q | E) P(E) + P(Q | H) P(H)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Q = observed QBER    H = honest channel    E = Eve hypothesis</a:t>
            </a:r>
            <a:endParaRPr lang="en-US" sz="1200" dirty="0"/>
          </a:p>
        </p:txBody>
      </p:sp>
      <p:sp>
        <p:nvSpPr>
          <p:cNvPr id="12" name="Default prior"/>
          <p:cNvSpPr/>
          <p:nvPr/>
        </p:nvSpPr>
        <p:spPr>
          <a:xfrm>
            <a:off x="6217920" y="1371600"/>
            <a:ext cx="246888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55080" y="13716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50%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7360920" y="13716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Default prior</a:t>
            </a:r>
            <a:endParaRPr lang="en-US" sz="1300" dirty="0"/>
          </a:p>
        </p:txBody>
      </p:sp>
      <p:sp>
        <p:nvSpPr>
          <p:cNvPr id="15" name="Lower prior"/>
          <p:cNvSpPr/>
          <p:nvPr/>
        </p:nvSpPr>
        <p:spPr>
          <a:xfrm>
            <a:off x="6217920" y="2331720"/>
            <a:ext cx="246888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355080" y="23317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5%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360920" y="23317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Lower prior</a:t>
            </a:r>
            <a:endParaRPr lang="en-US" sz="1300" dirty="0"/>
          </a:p>
        </p:txBody>
      </p:sp>
      <p:sp>
        <p:nvSpPr>
          <p:cNvPr id="18" name="Strict prior"/>
          <p:cNvSpPr/>
          <p:nvPr/>
        </p:nvSpPr>
        <p:spPr>
          <a:xfrm>
            <a:off x="6217920" y="3291840"/>
            <a:ext cx="2468880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355080" y="32918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1%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7360920" y="32918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Strict prior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The calibrated distributions come from the repeated QBER experiment matrix.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Policy Thresholds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772400" y="384048"/>
            <a:ext cx="914400" cy="292608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BACKUP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Simple, interpretable policy logic.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E3EFE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8C5A"/>
                </a:solidFill>
              </a:rPr>
              <a:t>Low quantum evidence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46120" y="137160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6E8C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A6A12"/>
                </a:solidFill>
              </a:rPr>
              <a:t>Elevated evidence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35040" y="137160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4DED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4A3A"/>
                </a:solidFill>
              </a:rPr>
              <a:t>High evidence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8229600" cy="2286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Network risk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Quantum evidence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Decision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Normal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Clean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B8C5A"/>
                          </a:solidFill>
                        </a:rPr>
                        <a:t>ACCEPT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Attack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Clean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A6A12"/>
                          </a:solidFill>
                        </a:rPr>
                        <a:t>MONITOR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Normal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Eve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04A3A"/>
                          </a:solidFill>
                        </a:rPr>
                        <a:t>REJECT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Attack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2E27"/>
                          </a:solidFill>
                        </a:rPr>
                        <a:t>Eve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04A3A"/>
                          </a:solidFill>
                        </a:rPr>
                        <a:t>REJECT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Seven Models Compared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772400" y="384048"/>
            <a:ext cx="914400" cy="292608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BACKUP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Validation comparison, not the final held-out test result.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92608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A2E27"/>
                          </a:solidFill>
                        </a:rPr>
                        <a:t>LightGBM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A2E27"/>
                          </a:solidFill>
                        </a:rPr>
                        <a:t>99.94%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A2E27"/>
                          </a:solidFill>
                        </a:rPr>
                        <a:t>99.94%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A2E27"/>
                          </a:solidFill>
                        </a:rPr>
                        <a:t>99.94%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A2E27"/>
                          </a:solidFill>
                        </a:rPr>
                        <a:t>99.94%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A2E27"/>
                          </a:solidFill>
                        </a:rPr>
                        <a:t>99.999%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A2E27"/>
                          </a:solidFill>
                        </a:rPr>
                        <a:t>HistGradientBoosting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99.93%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99.94%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99.91%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99.93%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99.999%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A2E27"/>
                          </a:solidFill>
                        </a:rPr>
                        <a:t>CatBoost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99.93%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99.96%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99.89%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99.92%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99.998%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A2E27"/>
                          </a:solidFill>
                        </a:rPr>
                        <a:t>XGBoost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99.92%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99.91%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99.93%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99.92%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99.999%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A2E27"/>
                          </a:solidFill>
                        </a:rPr>
                        <a:t>RandomForest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99.91%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99.95%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99.86%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99.90%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99.999%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A2E27"/>
                          </a:solidFill>
                        </a:rPr>
                        <a:t>ExtraTrees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99.87%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99.91%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99.82%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99.86%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99.991%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A2E27"/>
                          </a:solidFill>
                        </a:rPr>
                        <a:t>LogisticRegression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97.18%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97.64%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96.26%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96.95%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2E27"/>
                          </a:solidFill>
                        </a:rPr>
                        <a:t>99.637%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From project model-selection experiments. Final held-out KDDTest+ numbers appear on slide 10.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Safe Warm Neutral">
  <a:themeElements>
    <a:clrScheme name="QSafe Warm Neutral">
      <a:dk1>
        <a:srgbClr val="3A2E27"/>
      </a:dk1>
      <a:lt1>
        <a:srgbClr val="FFFFFF"/>
      </a:lt1>
      <a:dk2>
        <a:srgbClr val="8B6240"/>
      </a:dk2>
      <a:lt2>
        <a:srgbClr val="F7F1EA"/>
      </a:lt2>
      <a:accent1>
        <a:srgbClr val="8B6240"/>
      </a:accent1>
      <a:accent2>
        <a:srgbClr val="C4A484"/>
      </a:accent2>
      <a:accent3>
        <a:srgbClr val="5B8C5A"/>
      </a:accent3>
      <a:accent4>
        <a:srgbClr val="C98F2B"/>
      </a:accent4>
      <a:accent5>
        <a:srgbClr val="B04A3A"/>
      </a:accent5>
      <a:accent6>
        <a:srgbClr val="E8DBCB"/>
      </a:accent6>
      <a:hlink>
        <a:srgbClr val="8B6240"/>
      </a:hlink>
      <a:folHlink>
        <a:srgbClr val="7A685A"/>
      </a:folHlink>
    </a:clrScheme>
    <a:fontScheme name="QSafe Warm Neutr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1553</Words>
  <Application>Microsoft Office PowerPoint</Application>
  <PresentationFormat>On-screen Show (16:9)</PresentationFormat>
  <Paragraphs>412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Bookman Old Style</vt:lpstr>
      <vt:lpstr>Calibri</vt:lpstr>
      <vt:lpstr>Cambria</vt:lpstr>
      <vt:lpstr>QSafe Warm Neutral</vt:lpstr>
      <vt:lpstr>QSafe</vt:lpstr>
      <vt:lpstr>The Threat Outlives the Session</vt:lpstr>
      <vt:lpstr>Quantum Changes the Rules</vt:lpstr>
      <vt:lpstr>BB84 in One Picture</vt:lpstr>
      <vt:lpstr>One Bit at a Time</vt:lpstr>
      <vt:lpstr>The Qiskit Circuit</vt:lpstr>
      <vt:lpstr>Eve Leaves Fingerprints</vt:lpstr>
      <vt:lpstr>QBER Reveals the Disturbance</vt:lpstr>
      <vt:lpstr>QBER Is Evidence, Not Alarm</vt:lpstr>
      <vt:lpstr>A Second Security Sensor</vt:lpstr>
      <vt:lpstr>Two Signals, One Decision</vt:lpstr>
      <vt:lpstr>See It Live</vt:lpstr>
      <vt:lpstr>What We Delivered</vt:lpstr>
      <vt:lpstr>Thank You</vt:lpstr>
      <vt:lpstr>Where BB84 Stops</vt:lpstr>
      <vt:lpstr>Bayesian Evidence</vt:lpstr>
      <vt:lpstr>Policy Thresholds</vt:lpstr>
      <vt:lpstr>Seven Models Compared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QSafe - IBM Qiskit Fall Fest 2026</dc:title>
  <dc:subject>PptxGenJS Presentation</dc:subject>
  <dc:creator>PptxGenJS</dc:creator>
  <cp:lastModifiedBy>Sabyasaachi Pradhan</cp:lastModifiedBy>
  <cp:revision>10</cp:revision>
  <dcterms:created xsi:type="dcterms:W3CDTF">2026-10-06T23:35:15Z</dcterms:created>
  <dcterms:modified xsi:type="dcterms:W3CDTF">2026-10-07T00:01:41Z</dcterms:modified>
</cp:coreProperties>
</file>